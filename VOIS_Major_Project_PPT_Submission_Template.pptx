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7" r:id="rId13"/>
    <p:sldId id="348"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9/5/2026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9/5/2026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9/5/2026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tmp"/><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tmp"/><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tmp"/></Relationships>
</file>

<file path=ppt/slides/_rels/slide1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957" y="3961627"/>
            <a:ext cx="5159051" cy="861497"/>
          </a:xfrm>
        </p:spPr>
        <p:txBody>
          <a:bodyPr vert="horz" lIns="91440" tIns="45720" rIns="91440" bIns="45720" rtlCol="0" anchor="t">
            <a:normAutofit fontScale="85000" lnSpcReduction="10000"/>
          </a:bodyPr>
          <a:lstStyle/>
          <a:p>
            <a:r>
              <a:rPr lang="en-US" dirty="0">
                <a:solidFill>
                  <a:schemeClr val="tx1"/>
                </a:solidFill>
              </a:rPr>
              <a:t>Name</a:t>
            </a:r>
            <a:r>
              <a:rPr lang="en-US" b="0" dirty="0">
                <a:solidFill>
                  <a:schemeClr val="tx1"/>
                </a:solidFill>
              </a:rPr>
              <a:t> – Anushka Rajesh Thakur </a:t>
            </a:r>
            <a:endParaRPr lang="en-IN" b="0" dirty="0">
              <a:solidFill>
                <a:schemeClr val="tx1"/>
              </a:solidFill>
            </a:endParaRPr>
          </a:p>
          <a:p>
            <a:r>
              <a:rPr lang="en-US" dirty="0">
                <a:solidFill>
                  <a:schemeClr val="tx1"/>
                </a:solidFill>
              </a:rPr>
              <a:t>College Name</a:t>
            </a:r>
            <a:r>
              <a:rPr lang="en-US" b="0" dirty="0">
                <a:solidFill>
                  <a:schemeClr val="tx1"/>
                </a:solidFill>
              </a:rPr>
              <a:t> - </a:t>
            </a:r>
            <a:r>
              <a:rPr lang="en-US" b="0" dirty="0" err="1">
                <a:solidFill>
                  <a:schemeClr val="tx1"/>
                </a:solidFill>
              </a:rPr>
              <a:t>Kishinchand</a:t>
            </a:r>
            <a:r>
              <a:rPr lang="en-US" b="0" dirty="0">
                <a:solidFill>
                  <a:schemeClr val="tx1"/>
                </a:solidFill>
              </a:rPr>
              <a:t> </a:t>
            </a:r>
            <a:r>
              <a:rPr lang="en-US" b="0" dirty="0" err="1">
                <a:solidFill>
                  <a:schemeClr val="tx1"/>
                </a:solidFill>
              </a:rPr>
              <a:t>Chellaram</a:t>
            </a:r>
            <a:r>
              <a:rPr lang="en-US" b="0" dirty="0">
                <a:solidFill>
                  <a:schemeClr val="tx1"/>
                </a:solidFill>
              </a:rPr>
              <a:t> College</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2161930" y="2685552"/>
            <a:ext cx="5946371" cy="743448"/>
          </a:xfrm>
        </p:spPr>
        <p:txBody>
          <a:bodyPr>
            <a:normAutofit fontScale="90000"/>
          </a:bodyPr>
          <a:lstStyle/>
          <a:p>
            <a:pPr algn="ctr"/>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957" y="4646152"/>
            <a:ext cx="5374293" cy="353943"/>
          </a:xfrm>
          <a:prstGeom prst="rect">
            <a:avLst/>
          </a:prstGeom>
          <a:noFill/>
        </p:spPr>
        <p:txBody>
          <a:bodyPr wrap="square" rtlCol="0">
            <a:spAutoFit/>
          </a:bodyPr>
          <a:lstStyle/>
          <a:p>
            <a:r>
              <a:rPr lang="en-US" sz="1700" b="1" dirty="0"/>
              <a:t>AICTE STU ID - </a:t>
            </a:r>
            <a:r>
              <a:rPr lang="en-IN" sz="1700" dirty="0"/>
              <a:t>STU6a4be40da9cba1783358477 </a:t>
            </a:r>
            <a:endParaRPr lang="en-US" sz="1700"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62500" lnSpcReduction="20000"/>
          </a:bodyPr>
          <a:lstStyle/>
          <a:p>
            <a:pPr>
              <a:lnSpc>
                <a:spcPct val="100000"/>
              </a:lnSpc>
            </a:pPr>
            <a:r>
              <a:rPr lang="en-IN" sz="2800" dirty="0"/>
              <a:t>Agricultural activities are influenced by seasonal variations in environmental conditions, farming practices, resource availability and market conditions. As a result, agricultural performance may differ from one season to another. </a:t>
            </a:r>
          </a:p>
          <a:p>
            <a:pPr>
              <a:lnSpc>
                <a:spcPct val="100000"/>
              </a:lnSpc>
            </a:pPr>
            <a:r>
              <a:rPr lang="en-IN" sz="2800" dirty="0"/>
              <a:t>However, raw agricultural data does not clearly explain how agricultural performance changes across seasons or what patterns can be observed in different seasonal conditions. </a:t>
            </a:r>
          </a:p>
          <a:p>
            <a:pPr>
              <a:lnSpc>
                <a:spcPct val="100000"/>
              </a:lnSpc>
            </a:pPr>
            <a:r>
              <a:rPr lang="en-IN" sz="2800" dirty="0"/>
              <a:t>The problem is to </a:t>
            </a:r>
            <a:r>
              <a:rPr lang="en-IN" sz="2800" dirty="0" err="1"/>
              <a:t>analyze</a:t>
            </a:r>
            <a:r>
              <a:rPr lang="en-IN" sz="2800" dirty="0"/>
              <a:t> the given agricultural dataset and investigate seasonal differences in agricultural performance by identifying meaningful patterns, trends, relationships and variations within the available data.</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5957" y="478642"/>
            <a:ext cx="6276109" cy="830997"/>
          </a:xfrm>
        </p:spPr>
        <p:txBody>
          <a:bodyPr>
            <a:normAutofit fontScale="90000"/>
          </a:bodyPr>
          <a:lstStyle/>
          <a:p>
            <a:r>
              <a:rPr lang="en-GB" sz="4400"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19C9180A-CE87-6CD1-1CD2-483CF2D9F4D8}"/>
              </a:ext>
            </a:extLst>
          </p:cNvPr>
          <p:cNvSpPr txBox="1"/>
          <p:nvPr/>
        </p:nvSpPr>
        <p:spPr>
          <a:xfrm>
            <a:off x="675957" y="1436915"/>
            <a:ext cx="6032753" cy="4247317"/>
          </a:xfrm>
          <a:prstGeom prst="rect">
            <a:avLst/>
          </a:prstGeom>
          <a:noFill/>
        </p:spPr>
        <p:txBody>
          <a:bodyPr wrap="square" rtlCol="0">
            <a:spAutoFit/>
          </a:bodyPr>
          <a:lstStyle/>
          <a:p>
            <a:r>
              <a:rPr lang="en-IN" dirty="0"/>
              <a:t>This project </a:t>
            </a:r>
            <a:r>
              <a:rPr lang="en-IN" dirty="0" err="1"/>
              <a:t>analyzes</a:t>
            </a:r>
            <a:r>
              <a:rPr lang="en-IN" dirty="0"/>
              <a:t> seasonal agricultural performance using data on crops, farms, environmental conditions, resource usage, production, yield, revenue, costs, profit, and disease/pest risk. The analysis compares Kharif, Rabi, and Zaid seasons to identify differences, patterns, and trends in agricultural outcomes. It examines relationships between rainfall, soil moisture, fertilizer usage, and crop yield, while also comparing crop and state-wise performance. Statistical analysis and visualizations are used to present meaningful insights. The project aims to identify key seasonal factors affecting agricultural performance and provide data-driven recommendations for better crop planning, resource management, profitability, and sustainable agricultural decision-making.</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620008" y="1832740"/>
            <a:ext cx="5996682" cy="3990023"/>
          </a:xfrm>
        </p:spPr>
        <p:txBody>
          <a:bodyPr>
            <a:normAutofit lnSpcReduction="10000"/>
          </a:bodyPr>
          <a:lstStyle/>
          <a:p>
            <a:pPr marL="0" indent="0">
              <a:lnSpc>
                <a:spcPct val="100000"/>
              </a:lnSpc>
              <a:buNone/>
            </a:pPr>
            <a:r>
              <a:rPr lang="en-IN" sz="2800" dirty="0"/>
              <a:t>The end users of this project include </a:t>
            </a:r>
          </a:p>
          <a:p>
            <a:pPr marL="514350" indent="-514350">
              <a:lnSpc>
                <a:spcPct val="100000"/>
              </a:lnSpc>
              <a:buFont typeface="+mj-lt"/>
              <a:buAutoNum type="arabicPeriod"/>
            </a:pPr>
            <a:r>
              <a:rPr lang="en-IN" sz="2800" dirty="0"/>
              <a:t>Farmers</a:t>
            </a:r>
          </a:p>
          <a:p>
            <a:pPr marL="514350" indent="-514350">
              <a:lnSpc>
                <a:spcPct val="100000"/>
              </a:lnSpc>
              <a:buFont typeface="+mj-lt"/>
              <a:buAutoNum type="arabicPeriod"/>
            </a:pPr>
            <a:r>
              <a:rPr lang="en-IN" sz="2800" dirty="0"/>
              <a:t>agricultural planners</a:t>
            </a:r>
          </a:p>
          <a:p>
            <a:pPr marL="514350" indent="-514350">
              <a:lnSpc>
                <a:spcPct val="100000"/>
              </a:lnSpc>
              <a:buFont typeface="+mj-lt"/>
              <a:buAutoNum type="arabicPeriod"/>
            </a:pPr>
            <a:r>
              <a:rPr lang="en-IN" sz="2800" dirty="0"/>
              <a:t>agricultural researchers </a:t>
            </a:r>
          </a:p>
          <a:p>
            <a:pPr marL="514350" indent="-514350">
              <a:lnSpc>
                <a:spcPct val="100000"/>
              </a:lnSpc>
              <a:buFont typeface="+mj-lt"/>
              <a:buAutoNum type="arabicPeriod"/>
            </a:pPr>
            <a:r>
              <a:rPr lang="en-IN" sz="2800" dirty="0"/>
              <a:t>government departments</a:t>
            </a:r>
          </a:p>
          <a:p>
            <a:pPr marL="514350" indent="-514350">
              <a:lnSpc>
                <a:spcPct val="100000"/>
              </a:lnSpc>
              <a:buFont typeface="+mj-lt"/>
              <a:buAutoNum type="arabicPeriod"/>
            </a:pPr>
            <a:r>
              <a:rPr lang="en-IN" sz="2800" dirty="0"/>
              <a:t>agricultural organizations</a:t>
            </a:r>
          </a:p>
          <a:p>
            <a:pPr marL="514350" indent="-514350">
              <a:lnSpc>
                <a:spcPct val="100000"/>
              </a:lnSpc>
              <a:buFont typeface="+mj-lt"/>
              <a:buAutoNum type="arabicPeriod"/>
            </a:pPr>
            <a:r>
              <a:rPr lang="en-IN" sz="2800" dirty="0"/>
              <a:t>policymakers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129004" y="1432560"/>
            <a:ext cx="6662057" cy="3811244"/>
          </a:xfrm>
        </p:spPr>
        <p:txBody>
          <a:bodyPr/>
          <a:lstStyle/>
          <a:p>
            <a:pPr marL="914400" lvl="1" indent="-457200">
              <a:lnSpc>
                <a:spcPct val="100000"/>
              </a:lnSpc>
              <a:buFont typeface="+mj-lt"/>
              <a:buAutoNum type="arabicPeriod"/>
            </a:pPr>
            <a:r>
              <a:rPr lang="en-IN" b="1" dirty="0"/>
              <a:t>Python</a:t>
            </a:r>
            <a:r>
              <a:rPr lang="en-IN" dirty="0"/>
              <a:t> – For data analysis and processing</a:t>
            </a:r>
          </a:p>
          <a:p>
            <a:pPr marL="914400" lvl="1" indent="-457200">
              <a:lnSpc>
                <a:spcPct val="100000"/>
              </a:lnSpc>
              <a:buFont typeface="+mj-lt"/>
              <a:buAutoNum type="arabicPeriod"/>
            </a:pPr>
            <a:r>
              <a:rPr lang="en-IN" b="1" dirty="0"/>
              <a:t>Pandas &amp; NumPy</a:t>
            </a:r>
            <a:r>
              <a:rPr lang="en-IN" dirty="0"/>
              <a:t> – For data cleaning, manipulation, and statistical calculations</a:t>
            </a:r>
          </a:p>
          <a:p>
            <a:pPr marL="914400" lvl="1" indent="-457200">
              <a:lnSpc>
                <a:spcPct val="100000"/>
              </a:lnSpc>
              <a:buFont typeface="+mj-lt"/>
              <a:buAutoNum type="arabicPeriod"/>
            </a:pPr>
            <a:r>
              <a:rPr lang="en-IN" b="1" dirty="0"/>
              <a:t>Matplotlib &amp; Seaborn</a:t>
            </a:r>
            <a:r>
              <a:rPr lang="en-IN" dirty="0"/>
              <a:t> – For creating charts and visualizations</a:t>
            </a:r>
          </a:p>
          <a:p>
            <a:pPr marL="914400" lvl="1" indent="-457200">
              <a:lnSpc>
                <a:spcPct val="100000"/>
              </a:lnSpc>
              <a:buFont typeface="+mj-lt"/>
              <a:buAutoNum type="arabicPeriod"/>
            </a:pPr>
            <a:r>
              <a:rPr lang="en-IN" b="1" dirty="0"/>
              <a:t>Jupyter Notebook</a:t>
            </a:r>
            <a:r>
              <a:rPr lang="en-IN" dirty="0"/>
              <a:t> – For performing and documenting the complete analysis</a:t>
            </a:r>
          </a:p>
          <a:p>
            <a:pPr marL="914400" lvl="1" indent="-457200">
              <a:lnSpc>
                <a:spcPct val="100000"/>
              </a:lnSpc>
              <a:buFont typeface="+mj-lt"/>
              <a:buAutoNum type="arabicPeriod"/>
            </a:pPr>
            <a:r>
              <a:rPr lang="en-IN" b="1" dirty="0"/>
              <a:t>CSV Dataset</a:t>
            </a:r>
            <a:r>
              <a:rPr lang="en-IN" dirty="0"/>
              <a:t> – Used as the primary data source for agricultural analysis</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1520466" y="265903"/>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503853" y="199603"/>
            <a:ext cx="9965094" cy="830997"/>
          </a:xfrm>
        </p:spPr>
        <p:txBody>
          <a:bodyPr>
            <a:normAutofit/>
          </a:bodyPr>
          <a:lstStyle/>
          <a:p>
            <a:r>
              <a:rPr lang="en-IN" sz="3200" dirty="0"/>
              <a:t>Seasonal Performance </a:t>
            </a:r>
            <a:r>
              <a:rPr lang="en-GB" sz="3200" dirty="0"/>
              <a:t>Results </a:t>
            </a:r>
            <a:endParaRPr lang="en-IN" sz="3200"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1310027" y="4406877"/>
            <a:ext cx="6527687" cy="2550180"/>
          </a:xfrm>
          <a:prstGeom prst="rect">
            <a:avLst/>
          </a:prstGeom>
        </p:spPr>
        <p:txBody>
          <a:bodyPr vert="horz" lIns="91440" tIns="45720" rIns="91440" bIns="45720" rtlCol="0">
            <a:no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lvl="0" algn="l"/>
            <a:r>
              <a:rPr lang="en-IN" sz="1800" b="1" dirty="0"/>
              <a:t>Kharif</a:t>
            </a:r>
            <a:r>
              <a:rPr lang="en-IN" sz="1800" dirty="0"/>
              <a:t> recorded the highest average yield: </a:t>
            </a:r>
            <a:r>
              <a:rPr lang="en-IN" sz="1800" b="1" dirty="0"/>
              <a:t>5.64 tonnes/ha</a:t>
            </a:r>
            <a:r>
              <a:rPr lang="en-IN" sz="1800" dirty="0"/>
              <a:t> </a:t>
            </a:r>
          </a:p>
          <a:p>
            <a:pPr lvl="0" algn="l"/>
            <a:r>
              <a:rPr lang="en-IN" sz="1800" b="1" dirty="0"/>
              <a:t>Rabi:</a:t>
            </a:r>
            <a:r>
              <a:rPr lang="en-IN" sz="1800" dirty="0"/>
              <a:t> 5.08 tonnes/ha </a:t>
            </a:r>
          </a:p>
          <a:p>
            <a:pPr lvl="0" algn="l"/>
            <a:r>
              <a:rPr lang="en-IN" sz="1800" b="1" dirty="0"/>
              <a:t>Zaid:</a:t>
            </a:r>
            <a:r>
              <a:rPr lang="en-IN" sz="1800" dirty="0"/>
              <a:t> 4.67 tonnes/ha </a:t>
            </a:r>
          </a:p>
          <a:p>
            <a:pPr lvl="0" algn="l"/>
            <a:r>
              <a:rPr lang="en-IN" sz="1800" dirty="0"/>
              <a:t>Kharif also had the highest average production and profit. </a:t>
            </a:r>
          </a:p>
          <a:p>
            <a:pPr lvl="0" algn="l"/>
            <a:r>
              <a:rPr lang="en-IN" sz="1800" dirty="0"/>
              <a:t>Overall, Kharif showed the strongest agricultural performance. </a:t>
            </a:r>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F0D23949-7A4D-CABE-8DB3-8E095BC77A4C}"/>
              </a:ext>
            </a:extLst>
          </p:cNvPr>
          <p:cNvPicPr>
            <a:picLocks noChangeAspect="1"/>
          </p:cNvPicPr>
          <p:nvPr/>
        </p:nvPicPr>
        <p:blipFill>
          <a:blip r:embed="rId3"/>
          <a:stretch>
            <a:fillRect/>
          </a:stretch>
        </p:blipFill>
        <p:spPr>
          <a:xfrm>
            <a:off x="2494168" y="879136"/>
            <a:ext cx="5104359" cy="3440938"/>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8701308" cy="830997"/>
          </a:xfrm>
        </p:spPr>
        <p:txBody>
          <a:bodyPr>
            <a:normAutofit/>
          </a:bodyPr>
          <a:lstStyle/>
          <a:p>
            <a:r>
              <a:rPr lang="en-IN" sz="3200" dirty="0"/>
              <a:t>Profit, Revenue &amp; Cost Results</a:t>
            </a:r>
            <a:r>
              <a:rPr lang="en-GB" sz="3200" dirty="0"/>
              <a:t> </a:t>
            </a:r>
            <a:endParaRPr lang="en-IN" sz="3200"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E46040F2-A45A-ECF2-9C97-F39A54152C24}"/>
              </a:ext>
            </a:extLst>
          </p:cNvPr>
          <p:cNvSpPr txBox="1"/>
          <p:nvPr/>
        </p:nvSpPr>
        <p:spPr>
          <a:xfrm>
            <a:off x="1341018" y="4777720"/>
            <a:ext cx="7371184" cy="1477328"/>
          </a:xfrm>
          <a:prstGeom prst="rect">
            <a:avLst/>
          </a:prstGeom>
          <a:noFill/>
        </p:spPr>
        <p:txBody>
          <a:bodyPr wrap="square" rtlCol="0">
            <a:spAutoFit/>
          </a:bodyPr>
          <a:lstStyle/>
          <a:p>
            <a:pPr lvl="0"/>
            <a:r>
              <a:rPr lang="en-IN" dirty="0"/>
              <a:t>Kharif generated the </a:t>
            </a:r>
            <a:r>
              <a:rPr lang="en-IN" b="1" dirty="0"/>
              <a:t>highest average profit: ₹178,915</a:t>
            </a:r>
            <a:r>
              <a:rPr lang="en-IN" dirty="0"/>
              <a:t> </a:t>
            </a:r>
          </a:p>
          <a:p>
            <a:pPr lvl="0"/>
            <a:r>
              <a:rPr lang="en-IN" dirty="0"/>
              <a:t>Rabi generated an average profit of </a:t>
            </a:r>
            <a:r>
              <a:rPr lang="en-IN" b="1" dirty="0"/>
              <a:t>₹87,689</a:t>
            </a:r>
            <a:r>
              <a:rPr lang="en-IN" dirty="0"/>
              <a:t> </a:t>
            </a:r>
          </a:p>
          <a:p>
            <a:pPr lvl="0"/>
            <a:r>
              <a:rPr lang="en-IN" dirty="0"/>
              <a:t>Zaid recorded an </a:t>
            </a:r>
            <a:r>
              <a:rPr lang="en-IN" b="1" dirty="0"/>
              <a:t>average loss of ₹24,805</a:t>
            </a:r>
            <a:r>
              <a:rPr lang="en-IN" dirty="0"/>
              <a:t> </a:t>
            </a:r>
          </a:p>
          <a:p>
            <a:pPr lvl="0"/>
            <a:r>
              <a:rPr lang="en-IN" dirty="0"/>
              <a:t>Revenue and total cost showed clear seasonal differences. </a:t>
            </a:r>
          </a:p>
          <a:p>
            <a:pPr lvl="0"/>
            <a:r>
              <a:rPr lang="en-IN" dirty="0"/>
              <a:t>Kharif was the most economically </a:t>
            </a:r>
            <a:r>
              <a:rPr lang="en-IN" dirty="0" err="1"/>
              <a:t>favorable</a:t>
            </a:r>
            <a:r>
              <a:rPr lang="en-IN" dirty="0"/>
              <a:t> season.</a:t>
            </a:r>
          </a:p>
        </p:txBody>
      </p:sp>
      <p:pic>
        <p:nvPicPr>
          <p:cNvPr id="6" name="Picture 5">
            <a:extLst>
              <a:ext uri="{FF2B5EF4-FFF2-40B4-BE49-F238E27FC236}">
                <a16:creationId xmlns:a16="http://schemas.microsoft.com/office/drawing/2014/main" id="{562CC54E-4093-F6FE-A222-17A0ED8D6FDC}"/>
              </a:ext>
            </a:extLst>
          </p:cNvPr>
          <p:cNvPicPr>
            <a:picLocks noChangeAspect="1"/>
          </p:cNvPicPr>
          <p:nvPr/>
        </p:nvPicPr>
        <p:blipFill>
          <a:blip r:embed="rId3"/>
          <a:stretch>
            <a:fillRect/>
          </a:stretch>
        </p:blipFill>
        <p:spPr>
          <a:xfrm>
            <a:off x="2500093" y="1085900"/>
            <a:ext cx="5486911" cy="351694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7013298" cy="830997"/>
          </a:xfrm>
        </p:spPr>
        <p:txBody>
          <a:bodyPr>
            <a:noAutofit/>
          </a:bodyPr>
          <a:lstStyle/>
          <a:p>
            <a:r>
              <a:rPr lang="en-IN" sz="3200" dirty="0"/>
              <a:t>Water &amp; Environmental Results</a:t>
            </a:r>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a:extLst>
              <a:ext uri="{FF2B5EF4-FFF2-40B4-BE49-F238E27FC236}">
                <a16:creationId xmlns:a16="http://schemas.microsoft.com/office/drawing/2014/main" id="{0F750BF3-BA71-F09E-D5DA-52E6B86CD07D}"/>
              </a:ext>
            </a:extLst>
          </p:cNvPr>
          <p:cNvSpPr txBox="1"/>
          <p:nvPr/>
        </p:nvSpPr>
        <p:spPr>
          <a:xfrm>
            <a:off x="1520890" y="4721290"/>
            <a:ext cx="6354147" cy="2046307"/>
          </a:xfrm>
          <a:prstGeom prst="rect">
            <a:avLst/>
          </a:prstGeom>
          <a:noFill/>
        </p:spPr>
        <p:txBody>
          <a:bodyPr wrap="square" rtlCol="0">
            <a:spAutoFit/>
          </a:bodyPr>
          <a:lstStyle/>
          <a:p>
            <a:pPr lvl="0"/>
            <a:r>
              <a:rPr lang="en-IN" dirty="0"/>
              <a:t>Kharif had the highest </a:t>
            </a:r>
            <a:r>
              <a:rPr lang="en-IN" b="1" dirty="0"/>
              <a:t>water-use efficiency: 5.89 tonnes/1,000 m³</a:t>
            </a:r>
            <a:r>
              <a:rPr lang="en-IN" dirty="0"/>
              <a:t> </a:t>
            </a:r>
          </a:p>
          <a:p>
            <a:pPr lvl="0"/>
            <a:r>
              <a:rPr lang="en-IN" dirty="0"/>
              <a:t>Rabi: 5.19 tonnes/1,000 m³ </a:t>
            </a:r>
          </a:p>
          <a:p>
            <a:pPr lvl="0"/>
            <a:r>
              <a:rPr lang="en-IN" dirty="0"/>
              <a:t>Zaid: 4.41 tonnes/1,000 m³ </a:t>
            </a:r>
          </a:p>
          <a:p>
            <a:pPr lvl="0"/>
            <a:r>
              <a:rPr lang="en-IN" dirty="0"/>
              <a:t>Kharif had the highest disease/pest risk (</a:t>
            </a:r>
            <a:r>
              <a:rPr lang="en-IN" b="1" dirty="0"/>
              <a:t>54.47%</a:t>
            </a:r>
            <a:r>
              <a:rPr lang="en-IN" dirty="0"/>
              <a:t>). </a:t>
            </a:r>
          </a:p>
          <a:p>
            <a:pPr lvl="0"/>
            <a:r>
              <a:rPr lang="en-IN" dirty="0"/>
              <a:t>Rainfall and temperature showed noticeable seasonal variation.</a:t>
            </a:r>
          </a:p>
        </p:txBody>
      </p:sp>
      <p:pic>
        <p:nvPicPr>
          <p:cNvPr id="13" name="Picture 12">
            <a:extLst>
              <a:ext uri="{FF2B5EF4-FFF2-40B4-BE49-F238E27FC236}">
                <a16:creationId xmlns:a16="http://schemas.microsoft.com/office/drawing/2014/main" id="{C2FCD1D4-B3A5-EBD4-3C43-AB50593F9334}"/>
              </a:ext>
            </a:extLst>
          </p:cNvPr>
          <p:cNvPicPr>
            <a:picLocks noChangeAspect="1"/>
          </p:cNvPicPr>
          <p:nvPr/>
        </p:nvPicPr>
        <p:blipFill>
          <a:blip r:embed="rId3"/>
          <a:srcRect b="17666"/>
          <a:stretch>
            <a:fillRect/>
          </a:stretch>
        </p:blipFill>
        <p:spPr>
          <a:xfrm>
            <a:off x="2298393" y="1000691"/>
            <a:ext cx="5390862" cy="3720599"/>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5C3F6-C3E7-9CA4-C31A-4A9528EBE77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7BF6480-8921-DFD0-52D7-B9DFE92A53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242DCA6-0DB7-CFA8-FCB1-6C806485CA95}"/>
              </a:ext>
            </a:extLst>
          </p:cNvPr>
          <p:cNvSpPr>
            <a:spLocks noGrp="1"/>
          </p:cNvSpPr>
          <p:nvPr>
            <p:ph type="title"/>
          </p:nvPr>
        </p:nvSpPr>
        <p:spPr>
          <a:xfrm>
            <a:off x="675957" y="236770"/>
            <a:ext cx="7013298" cy="830997"/>
          </a:xfrm>
        </p:spPr>
        <p:txBody>
          <a:bodyPr>
            <a:noAutofit/>
          </a:bodyPr>
          <a:lstStyle/>
          <a:p>
            <a:r>
              <a:rPr lang="en-IN" sz="3200" dirty="0"/>
              <a:t>Crop &amp; State-wise Results</a:t>
            </a:r>
          </a:p>
        </p:txBody>
      </p:sp>
      <p:sp>
        <p:nvSpPr>
          <p:cNvPr id="7" name="Text Placeholder 30">
            <a:extLst>
              <a:ext uri="{FF2B5EF4-FFF2-40B4-BE49-F238E27FC236}">
                <a16:creationId xmlns:a16="http://schemas.microsoft.com/office/drawing/2014/main" id="{9F0559B5-5F98-1E7E-E4C5-3BF1F60767E0}"/>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F0DA833-F24B-55C3-CC65-46331FA5C413}"/>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a:extLst>
              <a:ext uri="{FF2B5EF4-FFF2-40B4-BE49-F238E27FC236}">
                <a16:creationId xmlns:a16="http://schemas.microsoft.com/office/drawing/2014/main" id="{E106941A-2089-F5B0-8CB8-6798C374C899}"/>
              </a:ext>
            </a:extLst>
          </p:cNvPr>
          <p:cNvSpPr txBox="1"/>
          <p:nvPr/>
        </p:nvSpPr>
        <p:spPr>
          <a:xfrm>
            <a:off x="1539551" y="4678201"/>
            <a:ext cx="7013298" cy="1754326"/>
          </a:xfrm>
          <a:prstGeom prst="rect">
            <a:avLst/>
          </a:prstGeom>
          <a:noFill/>
        </p:spPr>
        <p:txBody>
          <a:bodyPr wrap="square" rtlCol="0">
            <a:spAutoFit/>
          </a:bodyPr>
          <a:lstStyle/>
          <a:p>
            <a:pPr lvl="0"/>
            <a:r>
              <a:rPr lang="en-IN" b="1" dirty="0"/>
              <a:t>Sugarcane</a:t>
            </a:r>
            <a:r>
              <a:rPr lang="en-IN" dirty="0"/>
              <a:t> achieved the highest yield and profit across all seasons. </a:t>
            </a:r>
          </a:p>
          <a:p>
            <a:pPr lvl="0"/>
            <a:r>
              <a:rPr lang="en-IN" b="1" dirty="0"/>
              <a:t>Chilli</a:t>
            </a:r>
            <a:r>
              <a:rPr lang="en-IN" dirty="0"/>
              <a:t> was another consistently profitable crop. </a:t>
            </a:r>
          </a:p>
          <a:p>
            <a:pPr lvl="0"/>
            <a:r>
              <a:rPr lang="en-IN" dirty="0"/>
              <a:t>Punjab recorded the highest average </a:t>
            </a:r>
            <a:r>
              <a:rPr lang="en-IN" b="1" dirty="0"/>
              <a:t>Rabi yield: 8.61 tonnes/ha</a:t>
            </a:r>
            <a:r>
              <a:rPr lang="en-IN" dirty="0"/>
              <a:t>. </a:t>
            </a:r>
          </a:p>
          <a:p>
            <a:pPr lvl="0"/>
            <a:r>
              <a:rPr lang="en-IN" dirty="0"/>
              <a:t>Karnataka recorded the highest </a:t>
            </a:r>
            <a:r>
              <a:rPr lang="en-IN" b="1" dirty="0"/>
              <a:t>Zaid yield: 6.62 tonnes/ha</a:t>
            </a:r>
            <a:r>
              <a:rPr lang="en-IN" dirty="0"/>
              <a:t>. </a:t>
            </a:r>
          </a:p>
          <a:p>
            <a:pPr lvl="0"/>
            <a:r>
              <a:rPr lang="en-IN" dirty="0"/>
              <a:t>Seasonal performance varies considerably across states.</a:t>
            </a:r>
          </a:p>
        </p:txBody>
      </p:sp>
      <p:pic>
        <p:nvPicPr>
          <p:cNvPr id="3" name="Picture 2">
            <a:extLst>
              <a:ext uri="{FF2B5EF4-FFF2-40B4-BE49-F238E27FC236}">
                <a16:creationId xmlns:a16="http://schemas.microsoft.com/office/drawing/2014/main" id="{E331BBD7-C4F8-7EC1-9D58-55241C8B37EE}"/>
              </a:ext>
            </a:extLst>
          </p:cNvPr>
          <p:cNvPicPr>
            <a:picLocks noChangeAspect="1"/>
          </p:cNvPicPr>
          <p:nvPr/>
        </p:nvPicPr>
        <p:blipFill>
          <a:blip r:embed="rId3"/>
          <a:stretch>
            <a:fillRect/>
          </a:stretch>
        </p:blipFill>
        <p:spPr>
          <a:xfrm>
            <a:off x="675957" y="952231"/>
            <a:ext cx="4566452" cy="3415989"/>
          </a:xfrm>
          <a:prstGeom prst="rect">
            <a:avLst/>
          </a:prstGeom>
        </p:spPr>
      </p:pic>
      <p:pic>
        <p:nvPicPr>
          <p:cNvPr id="10" name="Picture 9">
            <a:extLst>
              <a:ext uri="{FF2B5EF4-FFF2-40B4-BE49-F238E27FC236}">
                <a16:creationId xmlns:a16="http://schemas.microsoft.com/office/drawing/2014/main" id="{0D7642AA-D300-8B4A-FE51-EB5D700AB488}"/>
              </a:ext>
            </a:extLst>
          </p:cNvPr>
          <p:cNvPicPr>
            <a:picLocks noChangeAspect="1"/>
          </p:cNvPicPr>
          <p:nvPr/>
        </p:nvPicPr>
        <p:blipFill>
          <a:blip r:embed="rId4"/>
          <a:stretch>
            <a:fillRect/>
          </a:stretch>
        </p:blipFill>
        <p:spPr>
          <a:xfrm>
            <a:off x="5597384" y="952231"/>
            <a:ext cx="4773581" cy="3303911"/>
          </a:xfrm>
          <a:prstGeom prst="rect">
            <a:avLst/>
          </a:prstGeom>
        </p:spPr>
      </p:pic>
    </p:spTree>
    <p:extLst>
      <p:ext uri="{BB962C8B-B14F-4D97-AF65-F5344CB8AC3E}">
        <p14:creationId xmlns:p14="http://schemas.microsoft.com/office/powerpoint/2010/main" val="1648682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35C45-9D99-79E8-FAC9-27925307DBE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9234C83-BED9-082C-F6CA-C90FEC82F9D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6ACEFC5-742A-2263-8E98-EF0A096BA62B}"/>
              </a:ext>
            </a:extLst>
          </p:cNvPr>
          <p:cNvSpPr>
            <a:spLocks noGrp="1"/>
          </p:cNvSpPr>
          <p:nvPr>
            <p:ph type="title"/>
          </p:nvPr>
        </p:nvSpPr>
        <p:spPr>
          <a:xfrm>
            <a:off x="675957" y="360962"/>
            <a:ext cx="7013298" cy="830997"/>
          </a:xfrm>
        </p:spPr>
        <p:txBody>
          <a:bodyPr>
            <a:noAutofit/>
          </a:bodyPr>
          <a:lstStyle/>
          <a:p>
            <a:r>
              <a:rPr lang="en-IN" sz="3200" dirty="0"/>
              <a:t>Key Findings &amp; Recommendations</a:t>
            </a:r>
          </a:p>
        </p:txBody>
      </p:sp>
      <p:sp>
        <p:nvSpPr>
          <p:cNvPr id="7" name="Text Placeholder 30">
            <a:extLst>
              <a:ext uri="{FF2B5EF4-FFF2-40B4-BE49-F238E27FC236}">
                <a16:creationId xmlns:a16="http://schemas.microsoft.com/office/drawing/2014/main" id="{CBF3CF26-1E52-111A-0BB2-6654FBFE8964}"/>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A59D158-484D-1DEA-2A75-D19CEBFD9CA8}"/>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a:extLst>
              <a:ext uri="{FF2B5EF4-FFF2-40B4-BE49-F238E27FC236}">
                <a16:creationId xmlns:a16="http://schemas.microsoft.com/office/drawing/2014/main" id="{BB23BE94-5496-D2A5-3D27-A1EA0319BCCB}"/>
              </a:ext>
            </a:extLst>
          </p:cNvPr>
          <p:cNvSpPr txBox="1"/>
          <p:nvPr/>
        </p:nvSpPr>
        <p:spPr>
          <a:xfrm>
            <a:off x="1163947" y="1443841"/>
            <a:ext cx="5682343" cy="4524315"/>
          </a:xfrm>
          <a:prstGeom prst="rect">
            <a:avLst/>
          </a:prstGeom>
          <a:noFill/>
        </p:spPr>
        <p:txBody>
          <a:bodyPr wrap="square" rtlCol="0">
            <a:spAutoFit/>
          </a:bodyPr>
          <a:lstStyle/>
          <a:p>
            <a:r>
              <a:rPr lang="en-IN" b="1" dirty="0"/>
              <a:t>Key Findings</a:t>
            </a:r>
            <a:endParaRPr lang="en-IN" dirty="0"/>
          </a:p>
          <a:p>
            <a:pPr marL="285750" lvl="0" indent="-285750">
              <a:buFont typeface="Arial" panose="020B0604020202020204" pitchFamily="34" charset="0"/>
              <a:buChar char="•"/>
            </a:pPr>
            <a:r>
              <a:rPr lang="en-IN" dirty="0"/>
              <a:t>Kharif was the strongest overall season. </a:t>
            </a:r>
          </a:p>
          <a:p>
            <a:pPr marL="285750" lvl="0" indent="-285750">
              <a:buFont typeface="Arial" panose="020B0604020202020204" pitchFamily="34" charset="0"/>
              <a:buChar char="•"/>
            </a:pPr>
            <a:r>
              <a:rPr lang="en-IN" dirty="0"/>
              <a:t>Zaid showed the weakest performance and negative average profit. </a:t>
            </a:r>
          </a:p>
          <a:p>
            <a:pPr marL="285750" lvl="0" indent="-285750">
              <a:buFont typeface="Arial" panose="020B0604020202020204" pitchFamily="34" charset="0"/>
              <a:buChar char="•"/>
            </a:pPr>
            <a:r>
              <a:rPr lang="en-IN" dirty="0"/>
              <a:t>Soil moisture had almost </a:t>
            </a:r>
            <a:r>
              <a:rPr lang="en-IN" b="1" dirty="0"/>
              <a:t>no linear relationship with yield</a:t>
            </a:r>
            <a:r>
              <a:rPr lang="en-IN" dirty="0"/>
              <a:t> (correlation ≈ 0.01). </a:t>
            </a:r>
          </a:p>
          <a:p>
            <a:pPr marL="285750" lvl="0" indent="-285750">
              <a:buFont typeface="Arial" panose="020B0604020202020204" pitchFamily="34" charset="0"/>
              <a:buChar char="•"/>
            </a:pPr>
            <a:r>
              <a:rPr lang="en-IN" dirty="0"/>
              <a:t>Fertilizer usage differed only slightly across seasons.</a:t>
            </a:r>
          </a:p>
          <a:p>
            <a:pPr lvl="0"/>
            <a:r>
              <a:rPr lang="en-IN" dirty="0"/>
              <a:t> </a:t>
            </a:r>
          </a:p>
          <a:p>
            <a:r>
              <a:rPr lang="en-IN" b="1" dirty="0"/>
              <a:t>Recommendations</a:t>
            </a:r>
            <a:endParaRPr lang="en-IN" dirty="0"/>
          </a:p>
          <a:p>
            <a:pPr marL="285750" lvl="0" indent="-285750">
              <a:buFont typeface="Arial" panose="020B0604020202020204" pitchFamily="34" charset="0"/>
              <a:buChar char="•"/>
            </a:pPr>
            <a:r>
              <a:rPr lang="en-IN" dirty="0"/>
              <a:t>Prioritize suitable crops and resources during high-performing seasons. </a:t>
            </a:r>
          </a:p>
          <a:p>
            <a:pPr marL="285750" lvl="0" indent="-285750">
              <a:buFont typeface="Arial" panose="020B0604020202020204" pitchFamily="34" charset="0"/>
              <a:buChar char="•"/>
            </a:pPr>
            <a:r>
              <a:rPr lang="en-IN" dirty="0"/>
              <a:t>Improve water-use efficiency, especially in Zaid. </a:t>
            </a:r>
          </a:p>
          <a:p>
            <a:pPr marL="285750" lvl="0" indent="-285750">
              <a:buFont typeface="Arial" panose="020B0604020202020204" pitchFamily="34" charset="0"/>
              <a:buChar char="•"/>
            </a:pPr>
            <a:r>
              <a:rPr lang="en-IN" dirty="0"/>
              <a:t>Monitor disease/pest risks during Kharif. </a:t>
            </a:r>
          </a:p>
          <a:p>
            <a:pPr marL="285750" lvl="0" indent="-285750">
              <a:buFont typeface="Arial" panose="020B0604020202020204" pitchFamily="34" charset="0"/>
              <a:buChar char="•"/>
            </a:pPr>
            <a:r>
              <a:rPr lang="en-IN" dirty="0"/>
              <a:t>Use state- and crop-specific planning for better productivity and profitability. </a:t>
            </a:r>
          </a:p>
        </p:txBody>
      </p:sp>
    </p:spTree>
    <p:extLst>
      <p:ext uri="{BB962C8B-B14F-4D97-AF65-F5344CB8AC3E}">
        <p14:creationId xmlns:p14="http://schemas.microsoft.com/office/powerpoint/2010/main" val="3588099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0EF607CC-727B-221B-F97B-464350635062}"/>
              </a:ext>
            </a:extLst>
          </p:cNvPr>
          <p:cNvSpPr txBox="1"/>
          <p:nvPr/>
        </p:nvSpPr>
        <p:spPr>
          <a:xfrm>
            <a:off x="746449" y="1275371"/>
            <a:ext cx="5784980" cy="4524315"/>
          </a:xfrm>
          <a:prstGeom prst="rect">
            <a:avLst/>
          </a:prstGeom>
          <a:noFill/>
        </p:spPr>
        <p:txBody>
          <a:bodyPr wrap="square" rtlCol="0">
            <a:spAutoFit/>
          </a:bodyPr>
          <a:lstStyle/>
          <a:p>
            <a:pPr marL="342900" indent="-342900">
              <a:buFont typeface="+mj-lt"/>
              <a:buAutoNum type="arabicPeriod"/>
            </a:pPr>
            <a:r>
              <a:rPr lang="en-IN" dirty="0"/>
              <a:t>The project can be further enhanced by incorporating </a:t>
            </a:r>
            <a:r>
              <a:rPr lang="en-IN" b="1" dirty="0"/>
              <a:t>real-time weather and market-price data</a:t>
            </a:r>
            <a:r>
              <a:rPr lang="en-IN" dirty="0"/>
              <a:t> to provide more accurate agricultural insights. </a:t>
            </a:r>
          </a:p>
          <a:p>
            <a:pPr marL="342900" indent="-342900">
              <a:buFont typeface="+mj-lt"/>
              <a:buAutoNum type="arabicPeriod"/>
            </a:pPr>
            <a:r>
              <a:rPr lang="en-IN" dirty="0"/>
              <a:t>Machine learning models can be developed to </a:t>
            </a:r>
            <a:r>
              <a:rPr lang="en-IN" b="1" dirty="0"/>
              <a:t>predict crop yield, profit, and disease or pest risks</a:t>
            </a:r>
            <a:r>
              <a:rPr lang="en-IN" dirty="0"/>
              <a:t> for different seasons. </a:t>
            </a:r>
          </a:p>
          <a:p>
            <a:pPr marL="342900" indent="-342900">
              <a:buFont typeface="+mj-lt"/>
              <a:buAutoNum type="arabicPeriod"/>
            </a:pPr>
            <a:r>
              <a:rPr lang="en-IN" dirty="0"/>
              <a:t>The system can also include </a:t>
            </a:r>
            <a:r>
              <a:rPr lang="en-IN" b="1" dirty="0"/>
              <a:t>soil and weather sensor data</a:t>
            </a:r>
            <a:r>
              <a:rPr lang="en-IN" dirty="0"/>
              <a:t> for real-time monitoring. </a:t>
            </a:r>
          </a:p>
          <a:p>
            <a:pPr marL="342900" indent="-342900">
              <a:buFont typeface="+mj-lt"/>
              <a:buAutoNum type="arabicPeriod"/>
            </a:pPr>
            <a:r>
              <a:rPr lang="en-IN" dirty="0"/>
              <a:t>A dashboard could be developed to provide interactive, location-based recommendations for farmers. </a:t>
            </a:r>
          </a:p>
          <a:p>
            <a:pPr marL="342900" indent="-342900">
              <a:buFont typeface="+mj-lt"/>
              <a:buAutoNum type="arabicPeriod"/>
            </a:pPr>
            <a:r>
              <a:rPr lang="en-IN" dirty="0"/>
              <a:t>Future analysis can also include more years of historical data to identify long-term seasonal trends and improve </a:t>
            </a:r>
            <a:r>
              <a:rPr lang="en-IN" b="1" dirty="0"/>
              <a:t>crop selection, resource management, and agricultural planning</a:t>
            </a:r>
            <a:r>
              <a:rPr lang="en-IN" dirty="0"/>
              <a:t>.</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7844258F-6B2D-7B38-468E-839649DBF3EE}"/>
              </a:ext>
            </a:extLst>
          </p:cNvPr>
          <p:cNvSpPr txBox="1"/>
          <p:nvPr/>
        </p:nvSpPr>
        <p:spPr>
          <a:xfrm>
            <a:off x="1614196" y="1754155"/>
            <a:ext cx="4481804" cy="923330"/>
          </a:xfrm>
          <a:prstGeom prst="rect">
            <a:avLst/>
          </a:prstGeom>
          <a:noFill/>
        </p:spPr>
        <p:txBody>
          <a:bodyPr wrap="square" rtlCol="0">
            <a:spAutoFit/>
          </a:bodyPr>
          <a:lstStyle/>
          <a:p>
            <a:r>
              <a:rPr lang="en-IN" dirty="0"/>
              <a:t>https://github.com/anushka-653/Seasonal-Agriculture-Performance-Analysis.git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075AC76E-5121-DEE6-C8C0-99404D17C776}"/>
              </a:ext>
            </a:extLst>
          </p:cNvPr>
          <p:cNvPicPr>
            <a:picLocks noChangeAspect="1"/>
          </p:cNvPicPr>
          <p:nvPr/>
        </p:nvPicPr>
        <p:blipFill>
          <a:blip r:embed="rId3"/>
          <a:stretch>
            <a:fillRect/>
          </a:stretch>
        </p:blipFill>
        <p:spPr>
          <a:xfrm>
            <a:off x="1649785" y="1608410"/>
            <a:ext cx="6403731" cy="4523805"/>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74490" y="2650144"/>
            <a:ext cx="11340000" cy="700114"/>
          </a:xfrm>
          <a:prstGeom prst="rect">
            <a:avLst/>
          </a:prstGeom>
        </p:spPr>
        <p:txBody>
          <a:bodyPr anchor="ctr">
            <a:noAutofit/>
          </a:bodyPr>
          <a:lstStyle/>
          <a:p>
            <a:pPr algn="ctr"/>
            <a:r>
              <a:rPr lang="en-US" sz="72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1393</TotalTime>
  <Words>721</Words>
  <Application>Microsoft Office PowerPoint</Application>
  <PresentationFormat>Widescreen</PresentationFormat>
  <Paragraphs>73</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Seasonal Agriculture Performance Analysis</vt:lpstr>
      <vt:lpstr>PROBLEM  STATEMENT</vt:lpstr>
      <vt:lpstr>Project Description  </vt:lpstr>
      <vt:lpstr>WHO ARE THE END USERS?</vt:lpstr>
      <vt:lpstr>Technology Used</vt:lpstr>
      <vt:lpstr>Seasonal Performance Results </vt:lpstr>
      <vt:lpstr>Profit, Revenue &amp; Cost Results </vt:lpstr>
      <vt:lpstr>Water &amp; Environmental Results</vt:lpstr>
      <vt:lpstr>Crop &amp; State-wise Results</vt:lpstr>
      <vt:lpstr>Key Findings &amp; Recommendations</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Anushka Thakur</cp:lastModifiedBy>
  <cp:revision>99</cp:revision>
  <dcterms:created xsi:type="dcterms:W3CDTF">2021-07-11T13:13:15Z</dcterms:created>
  <dcterms:modified xsi:type="dcterms:W3CDTF">2026-09-04T21:18:32Z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